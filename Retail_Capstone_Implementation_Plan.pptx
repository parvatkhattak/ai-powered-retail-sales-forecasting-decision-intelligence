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7" r:id="rId10"/>
    <p:sldId id="270" r:id="rId11"/>
    <p:sldId id="271" r:id="rId12"/>
    <p:sldId id="272" r:id="rId13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26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1800-FE13-FA50-3563-6BE77986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E22BA-15C7-2E63-6406-D2EEDE39E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ECEFF-4B90-450C-BE15-8C3516B9F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750F4-A613-C8BC-CB1C-A0A3B2287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6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AI_BAS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PLAN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7729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Sales Forecasting &amp; Decision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Local Tech Stack &amp; 4-Resource Work Division Plan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2582" y="1554480"/>
            <a:ext cx="4971913" cy="4663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036902" y="2253996"/>
            <a:ext cx="4423273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036902" y="4119372"/>
            <a:ext cx="4423273" cy="1632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generating daily sales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07678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retail stores currently relying on manual reporting and historical analysis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need: Faster, evidence-based recommendations and proactive 7-day forecasts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Rossmann Store Sales (Kaggle) with promos, holidays, and competition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Framework: ANALYZE -&gt; PREDICT -&gt; EXPLAIN -&gt; RECOMMEND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Local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2582" y="1554480"/>
            <a:ext cx="4971913" cy="4663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036902" y="2253996"/>
            <a:ext cx="4423273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036902" y="4119372"/>
            <a:ext cx="4423273" cy="1632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dependencies required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07678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Interface: Streamlit multi-page dashboard (EDA, Forecasts, AI Chat)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Storage: Python, Pandas, SQLite + SQLAlchemy for local query storage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Explainability: XGBoost / LightGBM, scikit-learn, and SHAP feature importance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Layer: LangGraph / ADK + local LLMs (Ollama / Llama 3)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4-Phase End-to-End Build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3877056"/>
            <a:ext cx="11277295" cy="18288"/>
          </a:xfrm>
          <a:prstGeom prst="rect">
            <a:avLst/>
          </a:prstGeom>
          <a:solidFill>
            <a:srgbClr val="787D8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757134" y="3776472"/>
            <a:ext cx="219456" cy="219456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263644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Data &amp; 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26364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feature engineering, SQLite database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6458" y="3776472"/>
            <a:ext cx="219456" cy="219456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67964" y="2880360"/>
            <a:ext cx="263644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ML &amp; XAI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67964" y="4160520"/>
            <a:ext cx="26364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XGBoost forecast &amp; SHAP explanation 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95782" y="3776472"/>
            <a:ext cx="219456" cy="219456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87288" y="2880360"/>
            <a:ext cx="263644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Agentic 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7288" y="4160520"/>
            <a:ext cx="26364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orchestration: Router, Data, Forecast, Decision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15105" y="3776472"/>
            <a:ext cx="219456" cy="219456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06611" y="2880360"/>
            <a:ext cx="263644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Streamlit UI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06611" y="4160520"/>
            <a:ext cx="26364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frontend dashboard, XAI views, and AI assistant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31C89-B966-482F-7BC4-106F1068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4FD3207-83E2-0D8C-8630-A6E75AE22241}"/>
              </a:ext>
            </a:extLst>
          </p:cNvPr>
          <p:cNvSpPr txBox="1"/>
          <p:nvPr/>
        </p:nvSpPr>
        <p:spPr>
          <a:xfrm>
            <a:off x="284673" y="946890"/>
            <a:ext cx="106191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      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IN" dirty="0"/>
              <a:t>                            │                   Resource 1: Frontend &amp; Lead Architect                                              │</a:t>
            </a:r>
          </a:p>
          <a:p>
            <a:r>
              <a:rPr lang="en-IN" dirty="0"/>
              <a:t>                            │                   (</a:t>
            </a:r>
            <a:r>
              <a:rPr lang="en-IN" dirty="0" err="1"/>
              <a:t>Streamlit</a:t>
            </a:r>
            <a:r>
              <a:rPr lang="en-IN" dirty="0"/>
              <a:t> App + System Layout)                                                         │</a:t>
            </a:r>
          </a:p>
          <a:p>
            <a:r>
              <a:rPr lang="en-IN" dirty="0"/>
              <a:t>                            └──────────────────────────────  ──────────────────────────────┘</a:t>
            </a:r>
          </a:p>
          <a:p>
            <a:r>
              <a:rPr lang="en-IN" dirty="0"/>
              <a:t>                                                                                                │</a:t>
            </a:r>
          </a:p>
          <a:p>
            <a:r>
              <a:rPr lang="en-IN" dirty="0"/>
              <a:t>                     ┌────────────────────────────────  ┼────────────────────────────────┐</a:t>
            </a:r>
          </a:p>
          <a:p>
            <a:r>
              <a:rPr lang="en-IN" dirty="0"/>
              <a:t>                    ▼                                                                      ▼                                                                     ▼</a:t>
            </a:r>
          </a:p>
          <a:p>
            <a:r>
              <a:rPr lang="en-IN" dirty="0"/>
              <a:t>┌──────────────────────────┐    ┌──────────────────────────┐    ┌──────────────────────────┐</a:t>
            </a:r>
          </a:p>
          <a:p>
            <a:r>
              <a:rPr lang="en-IN" dirty="0"/>
              <a:t>│   Resource 2: Data &amp;                    │    │   Resource 3: ML &amp;                      │    │   Resource 4: Agents &amp;                │</a:t>
            </a:r>
          </a:p>
          <a:p>
            <a:r>
              <a:rPr lang="en-IN" dirty="0"/>
              <a:t>│   Analytics Specialist                     │   │   Explainability (XAI)                     │    │   Decision Intelligence                 │</a:t>
            </a:r>
          </a:p>
          <a:p>
            <a:r>
              <a:rPr lang="en-IN" dirty="0"/>
              <a:t>│  (Data Prep, SQL, EDA)                      │   (</a:t>
            </a:r>
            <a:r>
              <a:rPr lang="en-IN" dirty="0" err="1"/>
              <a:t>XGBoost</a:t>
            </a:r>
            <a:r>
              <a:rPr lang="en-IN" dirty="0"/>
              <a:t>, SHAP, Metrics)          │    │   (</a:t>
            </a:r>
            <a:r>
              <a:rPr lang="en-IN" dirty="0" err="1"/>
              <a:t>LangGraph</a:t>
            </a:r>
            <a:r>
              <a:rPr lang="en-IN" dirty="0"/>
              <a:t>, Prompt/RAG)       │</a:t>
            </a:r>
          </a:p>
          <a:p>
            <a:r>
              <a:rPr lang="en-IN" dirty="0"/>
              <a:t>└──────────────────────────┘    └──────────────────────────┘    └──────────────────────────┘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09092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Allocation: Core System &amp;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55243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1: Frontend &amp; Lead Architect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552434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multi-page web application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SQL, ML models, and LangGraph agent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team delivery &amp; lead final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0148" y="1554480"/>
            <a:ext cx="55243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2: Data Engineer &amp; EDA Specialist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0148" y="2240280"/>
            <a:ext cx="552434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train/store datasets &amp; resolve missing values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 SQLite schema &amp; optimized SQL functions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deep EDA on sales, promos, and store types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Allocation: Predictive ML &amp; AI Agents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55243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3: ML &amp; XAI Engineer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552434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time-series features (lags, rolling averages)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MA vs XGBoost 7-day forecasting models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SHAP explainability pipeline for predictions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0148" y="1554480"/>
            <a:ext cx="55243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4: Agentic AI &amp; Decision Engineer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0148" y="2240280"/>
            <a:ext cx="552434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local LLM runtime (Ollama with Llama 3/Mistral)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LangGraph multi-agent workflow &amp; query routing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E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Decision Engine (Observation -&gt; Recommendation)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the Live Presentation Curveball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5524348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787D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24348" cy="548640"/>
          </a:xfrm>
          <a:prstGeom prst="rect">
            <a:avLst/>
          </a:prstGeom>
          <a:solidFill>
            <a:srgbClr val="3E4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5067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Test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506714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Stores 100, 200, 300, 400, and 500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 requires focus next week?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and what does promotional history tell us?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0148" y="1554480"/>
            <a:ext cx="5524348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787D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10148" y="1554480"/>
            <a:ext cx="5524348" cy="5486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38748" y="1627632"/>
            <a:ext cx="5067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Decision Output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8748" y="2194560"/>
            <a:ext cx="506714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Historical cohort performance &amp; baseline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Next week's 7-day forecast &amp; trend risks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SHAP promo uplift sensitivity per store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Target high-uplift store with promo focus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B7BB3C-B66A-CA5F-B6BE-19CA1903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36" y="1697528"/>
            <a:ext cx="5443015" cy="2497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9C1B2C-099D-EF1B-4AC0-DA4EBF8247E1}"/>
              </a:ext>
            </a:extLst>
          </p:cNvPr>
          <p:cNvSpPr txBox="1"/>
          <p:nvPr/>
        </p:nvSpPr>
        <p:spPr>
          <a:xfrm>
            <a:off x="513738" y="231007"/>
            <a:ext cx="11462349" cy="2554545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lang="en-IN" dirty="0"/>
              <a:t>Part 1: How the 4 Resources Work in Sync</a:t>
            </a:r>
          </a:p>
          <a:p>
            <a:endParaRPr lang="en-IN" sz="1400" dirty="0"/>
          </a:p>
          <a:p>
            <a:r>
              <a:rPr lang="en-IN" sz="1200" b="0" dirty="0"/>
              <a:t>Instead of all 4 developers editing the same files, the project is broken into 4 isolated Python modules. Each resource owns one file/directory and exposes standard functions for the others to call.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C0B40-8611-9DED-F245-39F6D6CA0D61}"/>
              </a:ext>
            </a:extLst>
          </p:cNvPr>
          <p:cNvSpPr txBox="1"/>
          <p:nvPr/>
        </p:nvSpPr>
        <p:spPr>
          <a:xfrm>
            <a:off x="6382203" y="2072991"/>
            <a:ext cx="529605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/>
              <a:t>sequenceDiagram</a:t>
            </a:r>
            <a:r>
              <a:rPr lang="en-IN" sz="1400" b="1" dirty="0"/>
              <a:t> </a:t>
            </a:r>
          </a:p>
          <a:p>
            <a:r>
              <a:rPr lang="en-IN" sz="1400" dirty="0" err="1"/>
              <a:t>Autonumber</a:t>
            </a:r>
            <a:endParaRPr lang="en-IN" sz="1400" dirty="0"/>
          </a:p>
          <a:p>
            <a:r>
              <a:rPr lang="en-IN" sz="1400" dirty="0"/>
              <a:t>actor User</a:t>
            </a:r>
          </a:p>
          <a:p>
            <a:r>
              <a:rPr lang="en-IN" sz="1400" dirty="0"/>
              <a:t>participant R1 as R1: </a:t>
            </a:r>
            <a:r>
              <a:rPr lang="en-IN" sz="1400" dirty="0" err="1"/>
              <a:t>Streamlit</a:t>
            </a:r>
            <a:r>
              <a:rPr lang="en-IN" sz="1400" dirty="0"/>
              <a:t> (app.py)</a:t>
            </a:r>
          </a:p>
          <a:p>
            <a:r>
              <a:rPr lang="en-IN" sz="1400" dirty="0"/>
              <a:t>participant R2 as R2: SQLite (database.py)</a:t>
            </a:r>
          </a:p>
          <a:p>
            <a:r>
              <a:rPr lang="en-IN" sz="1400" dirty="0"/>
              <a:t>participant R3 as R3: ML Engine (model_engine.py)</a:t>
            </a:r>
          </a:p>
          <a:p>
            <a:r>
              <a:rPr lang="en-IN" sz="1400" dirty="0"/>
              <a:t>participant R4 as R4: </a:t>
            </a:r>
            <a:r>
              <a:rPr lang="en-IN" sz="1400" dirty="0" err="1"/>
              <a:t>LangGraph</a:t>
            </a:r>
            <a:r>
              <a:rPr lang="en-IN" sz="1400" dirty="0"/>
              <a:t> (agent_graph.py)</a:t>
            </a:r>
          </a:p>
          <a:p>
            <a:endParaRPr lang="en-IN" sz="1400" dirty="0"/>
          </a:p>
          <a:p>
            <a:r>
              <a:rPr lang="en-IN" sz="1400" dirty="0"/>
              <a:t>User-&gt;&gt;R1: Types prompt in Chat UI </a:t>
            </a:r>
          </a:p>
          <a:p>
            <a:r>
              <a:rPr lang="en-IN" sz="1400" dirty="0"/>
              <a:t>R1-&gt;&gt;R4: </a:t>
            </a:r>
            <a:r>
              <a:rPr lang="en-IN" sz="1400" dirty="0" err="1"/>
              <a:t>run_agent</a:t>
            </a:r>
            <a:r>
              <a:rPr lang="en-IN" sz="1400" dirty="0"/>
              <a:t>(query="Focus stores next week?") </a:t>
            </a:r>
          </a:p>
          <a:p>
            <a:r>
              <a:rPr lang="en-IN" sz="1400" dirty="0"/>
              <a:t>R4-&gt;&gt;R2: </a:t>
            </a:r>
            <a:r>
              <a:rPr lang="en-IN" sz="1400" dirty="0" err="1"/>
              <a:t>get_store_metrics</a:t>
            </a:r>
            <a:r>
              <a:rPr lang="en-IN" sz="1400" dirty="0"/>
              <a:t>([100, 200, 300, 400, 500]) </a:t>
            </a:r>
          </a:p>
          <a:p>
            <a:r>
              <a:rPr lang="en-IN" sz="1400" dirty="0"/>
              <a:t>R2--&gt;&gt;R4: Returns historical sales &amp; promo data </a:t>
            </a:r>
          </a:p>
          <a:p>
            <a:r>
              <a:rPr lang="en-IN" sz="1400" dirty="0"/>
              <a:t>R4-&gt;&gt;R3: get_7day_forecast([100, 200, 300, 400, 500]) </a:t>
            </a:r>
          </a:p>
          <a:p>
            <a:r>
              <a:rPr lang="en-IN" sz="1400" dirty="0"/>
              <a:t>R3--&gt;&gt;R4: Returns predictions + SHAP values </a:t>
            </a:r>
          </a:p>
          <a:p>
            <a:r>
              <a:rPr lang="en-IN" sz="1400" dirty="0"/>
              <a:t>R4--&gt;&gt;R1: Observation -&gt; Prediction -&gt; Evidence -&gt; Recommendation </a:t>
            </a:r>
          </a:p>
          <a:p>
            <a:r>
              <a:rPr lang="en-IN" sz="1400" dirty="0"/>
              <a:t>R1--&gt;&gt;User: Displays structured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271AB-7242-E142-DEE3-E95285CB9801}"/>
              </a:ext>
            </a:extLst>
          </p:cNvPr>
          <p:cNvSpPr txBox="1"/>
          <p:nvPr/>
        </p:nvSpPr>
        <p:spPr>
          <a:xfrm>
            <a:off x="6238489" y="1462135"/>
            <a:ext cx="5296059" cy="29580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lang="en-IN" sz="1600" dirty="0"/>
              <a:t>The Interface Contracts (How the Parts Connect)</a:t>
            </a:r>
          </a:p>
        </p:txBody>
      </p:sp>
    </p:spTree>
    <p:extLst>
      <p:ext uri="{BB962C8B-B14F-4D97-AF65-F5344CB8AC3E}">
        <p14:creationId xmlns:p14="http://schemas.microsoft.com/office/powerpoint/2010/main" val="416355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9842-2C89-5010-A154-6EBE72DE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D049B7A-B858-3761-AF79-8AC41DEA859A}"/>
              </a:ext>
            </a:extLst>
          </p:cNvPr>
          <p:cNvGrpSpPr/>
          <p:nvPr/>
        </p:nvGrpSpPr>
        <p:grpSpPr>
          <a:xfrm>
            <a:off x="580127" y="1012136"/>
            <a:ext cx="6855845" cy="1081868"/>
            <a:chOff x="580126" y="820310"/>
            <a:chExt cx="6855845" cy="108186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865762-4860-C7A9-FCA7-C14EFB343392}"/>
                </a:ext>
              </a:extLst>
            </p:cNvPr>
            <p:cNvSpPr txBox="1"/>
            <p:nvPr/>
          </p:nvSpPr>
          <p:spPr>
            <a:xfrm>
              <a:off x="580126" y="820310"/>
              <a:ext cx="60945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Resource 2 (Data Specialist) exposes </a:t>
              </a:r>
              <a:r>
                <a:rPr lang="en-IN" b="1" dirty="0">
                  <a:latin typeface="+mn-lt"/>
                </a:rPr>
                <a:t>src/database.py</a:t>
              </a:r>
              <a:endParaRPr lang="en-IN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ACACBA-D328-6E1D-F0D0-22C25EB6510F}"/>
                </a:ext>
              </a:extLst>
            </p:cNvPr>
            <p:cNvSpPr txBox="1"/>
            <p:nvPr/>
          </p:nvSpPr>
          <p:spPr>
            <a:xfrm>
              <a:off x="580127" y="1163514"/>
              <a:ext cx="685584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/>
                <a:t># Contract functions consumed by R1 and R4</a:t>
              </a:r>
            </a:p>
            <a:p>
              <a:r>
                <a:rPr lang="en-IN" sz="1400" dirty="0"/>
                <a:t>def </a:t>
              </a:r>
              <a:r>
                <a:rPr lang="en-IN" sz="1400" dirty="0" err="1"/>
                <a:t>get_store_metrics</a:t>
              </a:r>
              <a:r>
                <a:rPr lang="en-IN" sz="1400" dirty="0"/>
                <a:t>(</a:t>
              </a:r>
              <a:r>
                <a:rPr lang="en-IN" sz="1400" dirty="0" err="1"/>
                <a:t>store_ids</a:t>
              </a:r>
              <a:r>
                <a:rPr lang="en-IN" sz="1400" dirty="0"/>
                <a:t>: list, days: int = 30) -&gt; </a:t>
              </a:r>
              <a:r>
                <a:rPr lang="en-IN" sz="1400" dirty="0" err="1"/>
                <a:t>pd.DataFrame</a:t>
              </a:r>
              <a:r>
                <a:rPr lang="en-IN" sz="1400" dirty="0"/>
                <a:t>: ...</a:t>
              </a:r>
            </a:p>
            <a:p>
              <a:r>
                <a:rPr lang="en-IN" sz="1400" dirty="0"/>
                <a:t>def </a:t>
              </a:r>
              <a:r>
                <a:rPr lang="en-IN" sz="1400" dirty="0" err="1"/>
                <a:t>get_promo_history</a:t>
              </a:r>
              <a:r>
                <a:rPr lang="en-IN" sz="1400" dirty="0"/>
                <a:t>(</a:t>
              </a:r>
              <a:r>
                <a:rPr lang="en-IN" sz="1400" dirty="0" err="1"/>
                <a:t>store_id</a:t>
              </a:r>
              <a:r>
                <a:rPr lang="en-IN" sz="1400" dirty="0"/>
                <a:t>: int) -&gt; </a:t>
              </a:r>
              <a:r>
                <a:rPr lang="en-IN" sz="1400" dirty="0" err="1"/>
                <a:t>dict</a:t>
              </a:r>
              <a:r>
                <a:rPr lang="en-IN" sz="1400" dirty="0"/>
                <a:t>: ...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59D4C5-2081-2533-C7F5-489565C09528}"/>
              </a:ext>
            </a:extLst>
          </p:cNvPr>
          <p:cNvGrpSpPr/>
          <p:nvPr/>
        </p:nvGrpSpPr>
        <p:grpSpPr>
          <a:xfrm>
            <a:off x="580126" y="2312682"/>
            <a:ext cx="6094562" cy="1090895"/>
            <a:chOff x="580126" y="2312682"/>
            <a:chExt cx="6094562" cy="109089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7CE11E-B61D-9D31-D574-33D25EFEFD1C}"/>
                </a:ext>
              </a:extLst>
            </p:cNvPr>
            <p:cNvSpPr txBox="1"/>
            <p:nvPr/>
          </p:nvSpPr>
          <p:spPr>
            <a:xfrm>
              <a:off x="580126" y="2312682"/>
              <a:ext cx="60945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/>
                <a:t>Resource 3 (ML Engineer) exposes </a:t>
              </a:r>
              <a:r>
                <a:rPr lang="en-IN" b="1" dirty="0">
                  <a:latin typeface="+mn-lt"/>
                </a:rPr>
                <a:t>src/model_engine.py</a:t>
              </a:r>
              <a:endParaRPr lang="en-IN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EEECC8-6CE6-DB6A-DD9C-9656CB1A08C0}"/>
                </a:ext>
              </a:extLst>
            </p:cNvPr>
            <p:cNvSpPr txBox="1"/>
            <p:nvPr/>
          </p:nvSpPr>
          <p:spPr>
            <a:xfrm>
              <a:off x="580127" y="2664913"/>
              <a:ext cx="608593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/>
                <a:t># Contract functions consumed by R1 and R4</a:t>
              </a:r>
            </a:p>
            <a:p>
              <a:r>
                <a:rPr lang="en-IN" sz="1400" dirty="0"/>
                <a:t>def get_7day_forecast(</a:t>
              </a:r>
              <a:r>
                <a:rPr lang="en-IN" sz="1400" dirty="0" err="1"/>
                <a:t>store_id</a:t>
              </a:r>
              <a:r>
                <a:rPr lang="en-IN" sz="1400" dirty="0"/>
                <a:t>: int) -&gt; </a:t>
              </a:r>
              <a:r>
                <a:rPr lang="en-IN" sz="1400" dirty="0" err="1"/>
                <a:t>pd.DataFrame</a:t>
              </a:r>
              <a:r>
                <a:rPr lang="en-IN" sz="1400" dirty="0"/>
                <a:t>: ...</a:t>
              </a:r>
            </a:p>
            <a:p>
              <a:r>
                <a:rPr lang="en-IN" sz="1400" dirty="0"/>
                <a:t>def </a:t>
              </a:r>
              <a:r>
                <a:rPr lang="en-IN" sz="1400" dirty="0" err="1"/>
                <a:t>get_shap_explanations</a:t>
              </a:r>
              <a:r>
                <a:rPr lang="en-IN" sz="1400" dirty="0"/>
                <a:t>(</a:t>
              </a:r>
              <a:r>
                <a:rPr lang="en-IN" sz="1400" dirty="0" err="1"/>
                <a:t>store_id</a:t>
              </a:r>
              <a:r>
                <a:rPr lang="en-IN" sz="1400" dirty="0"/>
                <a:t>: int) -&gt; </a:t>
              </a:r>
              <a:r>
                <a:rPr lang="en-IN" sz="1400" dirty="0" err="1"/>
                <a:t>dict</a:t>
              </a:r>
              <a:r>
                <a:rPr lang="en-IN" sz="1400" dirty="0"/>
                <a:t>: ...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C268610-CA8D-2698-55BE-216167C2D470}"/>
              </a:ext>
            </a:extLst>
          </p:cNvPr>
          <p:cNvSpPr txBox="1"/>
          <p:nvPr/>
        </p:nvSpPr>
        <p:spPr>
          <a:xfrm>
            <a:off x="571500" y="395586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Resource 4 (Agent Engineer) exposes </a:t>
            </a:r>
            <a:r>
              <a:rPr lang="en-IN" b="1" dirty="0">
                <a:latin typeface="+mn-lt"/>
              </a:rPr>
              <a:t>src/agent_graph.py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87232-40C6-17DA-9A07-D03CF615DE94}"/>
              </a:ext>
            </a:extLst>
          </p:cNvPr>
          <p:cNvSpPr txBox="1"/>
          <p:nvPr/>
        </p:nvSpPr>
        <p:spPr>
          <a:xfrm>
            <a:off x="580126" y="4287654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effectLst/>
              </a:rPr>
              <a:t># Contract function consumed by R1def </a:t>
            </a:r>
            <a:r>
              <a:rPr lang="en-IN" sz="1400" dirty="0" err="1">
                <a:effectLst/>
              </a:rPr>
              <a:t>run_agent_stream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user_query</a:t>
            </a:r>
            <a:r>
              <a:rPr lang="en-IN" sz="1400" dirty="0">
                <a:effectLst/>
              </a:rPr>
              <a:t>: str) -&gt; Generator: ...</a:t>
            </a:r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BA87A-5364-5068-246D-11A6AA16D011}"/>
              </a:ext>
            </a:extLst>
          </p:cNvPr>
          <p:cNvSpPr txBox="1"/>
          <p:nvPr/>
        </p:nvSpPr>
        <p:spPr>
          <a:xfrm>
            <a:off x="571500" y="5232821"/>
            <a:ext cx="609456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Resource 1 (Frontend Lead) builds </a:t>
            </a:r>
            <a:r>
              <a:rPr lang="en-IN" b="1" dirty="0">
                <a:latin typeface="+mn-lt"/>
              </a:rPr>
              <a:t>app.py</a:t>
            </a:r>
            <a:r>
              <a:rPr lang="en-IN" b="1" dirty="0"/>
              <a:t>: </a:t>
            </a:r>
            <a:r>
              <a:rPr lang="en-IN" sz="1400" dirty="0"/>
              <a:t>Calls </a:t>
            </a:r>
            <a:r>
              <a:rPr lang="en-IN" sz="1400" dirty="0">
                <a:latin typeface="+mn-lt"/>
              </a:rPr>
              <a:t>database.py</a:t>
            </a:r>
            <a:r>
              <a:rPr lang="en-IN" sz="1400" dirty="0"/>
              <a:t> for EDA charts, </a:t>
            </a:r>
            <a:r>
              <a:rPr lang="en-IN" sz="1400" dirty="0">
                <a:latin typeface="+mn-lt"/>
              </a:rPr>
              <a:t>model_engine.py</a:t>
            </a:r>
            <a:r>
              <a:rPr lang="en-IN" sz="1400" dirty="0"/>
              <a:t> for forecast tables, and </a:t>
            </a:r>
            <a:r>
              <a:rPr lang="en-IN" sz="1400" dirty="0">
                <a:latin typeface="+mn-lt"/>
              </a:rPr>
              <a:t>agent_graph.py</a:t>
            </a:r>
            <a:r>
              <a:rPr lang="en-IN" sz="1400" dirty="0"/>
              <a:t> for the chatbot window.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7A2AA-4DF6-78AC-476A-3013EAFCB797}"/>
              </a:ext>
            </a:extLst>
          </p:cNvPr>
          <p:cNvSpPr txBox="1"/>
          <p:nvPr/>
        </p:nvSpPr>
        <p:spPr>
          <a:xfrm>
            <a:off x="7884543" y="1049086"/>
            <a:ext cx="3365021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Parallel Workflow Strategy</a:t>
            </a:r>
          </a:p>
          <a:p>
            <a:pPr>
              <a:buNone/>
            </a:pPr>
            <a:r>
              <a:rPr lang="en-IN" dirty="0"/>
              <a:t>To prevent developers from blocking each other: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Day 1 Mocking: Resource 2 &amp; 3 supply mock JSON outputs during the first few hours. This allows Resource 1 and Resource 4 to build the </a:t>
            </a:r>
            <a:r>
              <a:rPr lang="en-IN" dirty="0" err="1"/>
              <a:t>Streamlit</a:t>
            </a:r>
            <a:r>
              <a:rPr lang="en-IN" dirty="0"/>
              <a:t> UI and </a:t>
            </a:r>
            <a:r>
              <a:rPr lang="en-IN" dirty="0" err="1"/>
              <a:t>LangGraph</a:t>
            </a:r>
            <a:r>
              <a:rPr lang="en-IN" dirty="0"/>
              <a:t> workflows immediately without waiting for real model training to finish.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Git Branching: Each resource works on a dedicated feature branch (</a:t>
            </a:r>
            <a:r>
              <a:rPr lang="en-IN" dirty="0">
                <a:latin typeface="+mn-lt"/>
              </a:rPr>
              <a:t>feature/data-pipeline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feature/ml-forecasting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feature/agent-router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feature/</a:t>
            </a:r>
            <a:r>
              <a:rPr lang="en-IN" dirty="0" err="1">
                <a:latin typeface="+mn-lt"/>
              </a:rPr>
              <a:t>streamlit-ui</a:t>
            </a:r>
            <a:r>
              <a:rPr lang="en-IN" dirty="0"/>
              <a:t>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E79DE-A4C0-5C97-C91A-FF4769EC6532}"/>
              </a:ext>
            </a:extLst>
          </p:cNvPr>
          <p:cNvSpPr txBox="1"/>
          <p:nvPr/>
        </p:nvSpPr>
        <p:spPr>
          <a:xfrm>
            <a:off x="513738" y="231007"/>
            <a:ext cx="11462349" cy="51924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lang="en-IN" dirty="0"/>
              <a:t>Part 1: How the 4 Resources Work in Sync</a:t>
            </a:r>
          </a:p>
        </p:txBody>
      </p:sp>
    </p:spTree>
    <p:extLst>
      <p:ext uri="{BB962C8B-B14F-4D97-AF65-F5344CB8AC3E}">
        <p14:creationId xmlns:p14="http://schemas.microsoft.com/office/powerpoint/2010/main" val="1123035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DC173-76D5-9485-9D78-6CF6CC3AED85}"/>
              </a:ext>
            </a:extLst>
          </p:cNvPr>
          <p:cNvSpPr txBox="1"/>
          <p:nvPr/>
        </p:nvSpPr>
        <p:spPr>
          <a:xfrm>
            <a:off x="430730" y="1367110"/>
            <a:ext cx="115912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Copilot is not just an individual autocomplete tool—it acts as the coordinating assistant across all 4 developers when configured properly for the team.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1. Shared Instructions (</a:t>
            </a:r>
            <a:r>
              <a:rPr lang="en-IN" b="1" dirty="0">
                <a:latin typeface="+mn-lt"/>
              </a:rPr>
              <a:t>.</a:t>
            </a:r>
            <a:r>
              <a:rPr lang="en-IN" b="1" dirty="0" err="1">
                <a:latin typeface="+mn-lt"/>
              </a:rPr>
              <a:t>github</a:t>
            </a:r>
            <a:r>
              <a:rPr lang="en-IN" b="1" dirty="0">
                <a:latin typeface="+mn-lt"/>
              </a:rPr>
              <a:t>/copilot-instructions.md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dirty="0"/>
              <a:t>You commit a single file to the repository root named </a:t>
            </a:r>
            <a:r>
              <a:rPr lang="en-IN" dirty="0">
                <a:latin typeface="+mn-lt"/>
              </a:rPr>
              <a:t>.</a:t>
            </a:r>
            <a:r>
              <a:rPr lang="en-IN" dirty="0" err="1">
                <a:latin typeface="+mn-lt"/>
              </a:rPr>
              <a:t>github</a:t>
            </a:r>
            <a:r>
              <a:rPr lang="en-IN" dirty="0">
                <a:latin typeface="+mn-lt"/>
              </a:rPr>
              <a:t>/copilot-instructions.md</a:t>
            </a:r>
            <a:r>
              <a:rPr lang="en-IN" dirty="0"/>
              <a:t>. When any of the 4 developers opens VS Code, Copilot reads this file and enforces the exact same tech stack, coding style, and library rules for everyone.</a:t>
            </a:r>
          </a:p>
          <a:p>
            <a:pPr>
              <a:buNone/>
            </a:pPr>
            <a:r>
              <a:rPr lang="en-IN" dirty="0"/>
              <a:t>Example Team </a:t>
            </a:r>
            <a:r>
              <a:rPr lang="en-IN" dirty="0">
                <a:latin typeface="+mn-lt"/>
              </a:rPr>
              <a:t>.</a:t>
            </a:r>
            <a:r>
              <a:rPr lang="en-IN" dirty="0" err="1">
                <a:latin typeface="+mn-lt"/>
              </a:rPr>
              <a:t>github</a:t>
            </a:r>
            <a:r>
              <a:rPr lang="en-IN" dirty="0">
                <a:latin typeface="+mn-lt"/>
              </a:rPr>
              <a:t>/copilot-instructions.md</a:t>
            </a:r>
            <a:r>
              <a:rPr lang="en-IN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79C5C-94B9-93DA-89D7-E1E9C8C6527F}"/>
              </a:ext>
            </a:extLst>
          </p:cNvPr>
          <p:cNvSpPr txBox="1"/>
          <p:nvPr/>
        </p:nvSpPr>
        <p:spPr>
          <a:xfrm>
            <a:off x="890336" y="3443412"/>
            <a:ext cx="6740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Retail Capstone - Team Coding Guidelines</a:t>
            </a:r>
          </a:p>
          <a:p>
            <a:r>
              <a:rPr lang="en-IN" sz="1200" dirty="0"/>
              <a:t>- Tech Stack: Python 3.11, </a:t>
            </a:r>
            <a:r>
              <a:rPr lang="en-IN" sz="1200" dirty="0" err="1"/>
              <a:t>Streamlit</a:t>
            </a:r>
            <a:r>
              <a:rPr lang="en-IN" sz="1200" dirty="0"/>
              <a:t>, Pandas, SQLite, </a:t>
            </a:r>
            <a:r>
              <a:rPr lang="en-IN" sz="1200" dirty="0" err="1"/>
              <a:t>XGBoost</a:t>
            </a:r>
            <a:r>
              <a:rPr lang="en-IN" sz="1200" dirty="0"/>
              <a:t>, </a:t>
            </a:r>
            <a:r>
              <a:rPr lang="en-IN" sz="1200" dirty="0" err="1"/>
              <a:t>LangGraph</a:t>
            </a:r>
            <a:r>
              <a:rPr lang="en-IN" sz="1200" dirty="0"/>
              <a:t>, </a:t>
            </a:r>
            <a:r>
              <a:rPr lang="en-IN" sz="1200" dirty="0" err="1"/>
              <a:t>Ollama</a:t>
            </a:r>
            <a:r>
              <a:rPr lang="en-IN" sz="1200" dirty="0"/>
              <a:t>.</a:t>
            </a:r>
          </a:p>
          <a:p>
            <a:r>
              <a:rPr lang="en-IN" sz="1200" dirty="0"/>
              <a:t>- Database: Use `</a:t>
            </a:r>
            <a:r>
              <a:rPr lang="en-IN" sz="1200" dirty="0" err="1"/>
              <a:t>src</a:t>
            </a:r>
            <a:r>
              <a:rPr lang="en-IN" sz="1200" dirty="0"/>
              <a:t>/database.py` for all SQLite connections using `</a:t>
            </a:r>
            <a:r>
              <a:rPr lang="en-IN" sz="1200" dirty="0" err="1"/>
              <a:t>sqlalchemy</a:t>
            </a:r>
            <a:r>
              <a:rPr lang="en-IN" sz="1200" dirty="0"/>
              <a:t>`.</a:t>
            </a:r>
          </a:p>
          <a:p>
            <a:r>
              <a:rPr lang="en-IN" sz="1200" dirty="0"/>
              <a:t>- Type Hints: Use strict Python type hints for all function parameters.</a:t>
            </a:r>
          </a:p>
          <a:p>
            <a:r>
              <a:rPr lang="en-IN" sz="1200" dirty="0"/>
              <a:t>- Agent Structure: All </a:t>
            </a:r>
            <a:r>
              <a:rPr lang="en-IN" sz="1200" dirty="0" err="1"/>
              <a:t>LangGraph</a:t>
            </a:r>
            <a:r>
              <a:rPr lang="en-IN" sz="1200" dirty="0"/>
              <a:t> nodes must accept and return `</a:t>
            </a:r>
            <a:r>
              <a:rPr lang="en-IN" sz="1200" dirty="0" err="1"/>
              <a:t>AgentState</a:t>
            </a:r>
            <a:r>
              <a:rPr lang="en-IN" sz="1200" dirty="0"/>
              <a:t>` typed dictionaries.</a:t>
            </a:r>
          </a:p>
          <a:p>
            <a:r>
              <a:rPr lang="en-IN" sz="1200" dirty="0"/>
              <a:t>- UI Style: Use </a:t>
            </a:r>
            <a:r>
              <a:rPr lang="en-IN" sz="1200" dirty="0" err="1"/>
              <a:t>Streamlit</a:t>
            </a:r>
            <a:r>
              <a:rPr lang="en-IN" sz="1200" dirty="0"/>
              <a:t> native components (`</a:t>
            </a:r>
            <a:r>
              <a:rPr lang="en-IN" sz="1200" dirty="0" err="1"/>
              <a:t>st.dataframe</a:t>
            </a:r>
            <a:r>
              <a:rPr lang="en-IN" sz="1200" dirty="0"/>
              <a:t>`, `</a:t>
            </a:r>
            <a:r>
              <a:rPr lang="en-IN" sz="1200" dirty="0" err="1"/>
              <a:t>st.plotly_chart</a:t>
            </a:r>
            <a:r>
              <a:rPr lang="en-IN" sz="1200" dirty="0"/>
              <a:t>`, `</a:t>
            </a:r>
            <a:r>
              <a:rPr lang="en-IN" sz="1200" dirty="0" err="1"/>
              <a:t>st.chat_message</a:t>
            </a:r>
            <a:r>
              <a:rPr lang="en-IN" sz="1200" dirty="0"/>
              <a:t>`).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A4B9D-BDAB-A88A-46D0-50FACCB6205E}"/>
              </a:ext>
            </a:extLst>
          </p:cNvPr>
          <p:cNvSpPr txBox="1"/>
          <p:nvPr/>
        </p:nvSpPr>
        <p:spPr>
          <a:xfrm>
            <a:off x="430730" y="4688718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Using </a:t>
            </a:r>
            <a:r>
              <a:rPr lang="en-IN" b="1" dirty="0">
                <a:latin typeface="+mn-lt"/>
              </a:rPr>
              <a:t>@workspace</a:t>
            </a:r>
            <a:r>
              <a:rPr lang="en-IN" b="1" dirty="0"/>
              <a:t> for Cross-Module Awareness</a:t>
            </a:r>
          </a:p>
          <a:p>
            <a:pPr>
              <a:buNone/>
            </a:pPr>
            <a:r>
              <a:rPr lang="en-IN" dirty="0"/>
              <a:t>If Resource 4 (Agent Engineer) needs to write a tool that queries the SQLite database built by Resource 2, they type in VS Code Copilot Chat: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92866-0D5D-0D0D-1E2F-70DB43B9A622}"/>
              </a:ext>
            </a:extLst>
          </p:cNvPr>
          <p:cNvSpPr txBox="1"/>
          <p:nvPr/>
        </p:nvSpPr>
        <p:spPr>
          <a:xfrm>
            <a:off x="208545" y="199358"/>
            <a:ext cx="12293868" cy="15696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lang="en-IN" dirty="0"/>
              <a:t>Part 2: How GitHub Copilot Works in a Multi-Developer 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780E7-C8D0-6F26-34D8-A23F981AB964}"/>
              </a:ext>
            </a:extLst>
          </p:cNvPr>
          <p:cNvSpPr txBox="1"/>
          <p:nvPr/>
        </p:nvSpPr>
        <p:spPr>
          <a:xfrm>
            <a:off x="2632507" y="5542536"/>
            <a:ext cx="81574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200"/>
            </a:lvl1pPr>
          </a:lstStyle>
          <a:p>
            <a:r>
              <a:rPr lang="en-IN" dirty="0"/>
              <a:t>@workspace Look at src/database.py and write a </a:t>
            </a:r>
            <a:r>
              <a:rPr lang="en-IN" dirty="0" err="1"/>
              <a:t>LangGraph</a:t>
            </a:r>
            <a:r>
              <a:rPr lang="en-IN" dirty="0"/>
              <a:t> tool function that fetches 30-day store performance.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B0BD3-9DB6-0F85-30B0-A97B53464FD3}"/>
              </a:ext>
            </a:extLst>
          </p:cNvPr>
          <p:cNvSpPr txBox="1"/>
          <p:nvPr/>
        </p:nvSpPr>
        <p:spPr>
          <a:xfrm>
            <a:off x="430730" y="5884430"/>
            <a:ext cx="10994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Copilot reads Resource 2's code directly from the workspace and writes a function that matches Resource 2's signature perfectly.</a:t>
            </a:r>
          </a:p>
        </p:txBody>
      </p:sp>
    </p:spTree>
    <p:extLst>
      <p:ext uri="{BB962C8B-B14F-4D97-AF65-F5344CB8AC3E}">
        <p14:creationId xmlns:p14="http://schemas.microsoft.com/office/powerpoint/2010/main" val="3689492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DDAD-6D35-206D-454B-081ABF99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E914A4-09A8-A5C6-E550-722ED1365F58}"/>
              </a:ext>
            </a:extLst>
          </p:cNvPr>
          <p:cNvSpPr txBox="1"/>
          <p:nvPr/>
        </p:nvSpPr>
        <p:spPr>
          <a:xfrm>
            <a:off x="530592" y="325449"/>
            <a:ext cx="105998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Copilot Pull Request Reviews</a:t>
            </a:r>
          </a:p>
          <a:p>
            <a:pPr>
              <a:buNone/>
            </a:pPr>
            <a:r>
              <a:rPr lang="en-IN" dirty="0"/>
              <a:t>When Resource 3 submits a PR for </a:t>
            </a:r>
            <a:r>
              <a:rPr lang="en-IN" dirty="0">
                <a:latin typeface="+mn-lt"/>
              </a:rPr>
              <a:t>model_engine.py</a:t>
            </a:r>
            <a:r>
              <a:rPr lang="en-IN" dirty="0"/>
              <a:t> to </a:t>
            </a:r>
            <a:r>
              <a:rPr lang="en-IN" dirty="0">
                <a:latin typeface="+mn-lt"/>
              </a:rPr>
              <a:t>main</a:t>
            </a:r>
            <a:r>
              <a:rPr lang="en-IN" dirty="0"/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GitHub Copilot Enterprise summarizes the PR changes automatically.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Copilot highlights potential contract breaks (e.g., </a:t>
            </a:r>
            <a:r>
              <a:rPr lang="en-IN" i="1" dirty="0"/>
              <a:t>"This PR changed </a:t>
            </a:r>
            <a:r>
              <a:rPr lang="en-IN" i="1" dirty="0">
                <a:latin typeface="+mn-lt"/>
              </a:rPr>
              <a:t>get_7day_forecast()</a:t>
            </a:r>
            <a:r>
              <a:rPr lang="en-IN" i="1" dirty="0"/>
              <a:t> output format from </a:t>
            </a:r>
            <a:r>
              <a:rPr lang="en-IN" i="1" dirty="0" err="1"/>
              <a:t>DataFrame</a:t>
            </a:r>
            <a:r>
              <a:rPr lang="en-IN" i="1" dirty="0"/>
              <a:t> to List, which breaks </a:t>
            </a:r>
            <a:r>
              <a:rPr lang="en-IN" i="1" dirty="0">
                <a:latin typeface="+mn-lt"/>
              </a:rPr>
              <a:t>app.py</a:t>
            </a:r>
            <a:r>
              <a:rPr lang="en-IN" i="1" dirty="0"/>
              <a:t>"</a:t>
            </a:r>
            <a:r>
              <a:rPr lang="en-IN" dirty="0"/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team resolves interface mismatches before merging into </a:t>
            </a:r>
            <a:r>
              <a:rPr lang="en-IN" dirty="0">
                <a:latin typeface="+mn-lt"/>
              </a:rPr>
              <a:t>main</a:t>
            </a:r>
            <a:r>
              <a:rPr lang="en-IN" dirty="0"/>
              <a:t>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3FB227F-ED97-2DF2-F8D8-977C51CDA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07276"/>
              </p:ext>
            </p:extLst>
          </p:nvPr>
        </p:nvGraphicFramePr>
        <p:xfrm>
          <a:off x="614813" y="3030952"/>
          <a:ext cx="105156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38043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084833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85386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Key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Copilot's Main Assistance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797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R1: Frontend /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app.py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Generating Streamlit layouts, chart bindings, and streaming chat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13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R2: Data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src/database.py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Writing Pandas cleaning logic, SQL indexing, and database wrapper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22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R3: ML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src/model_engine.py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Building time-series feature loops, XGBoost pipelines, and SHAP calculators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5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R4: Agent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src/agent_graph.py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Structuring </a:t>
                      </a:r>
                      <a:r>
                        <a:rPr lang="en-IN" dirty="0" err="1">
                          <a:effectLst/>
                        </a:rPr>
                        <a:t>LangGraph</a:t>
                      </a:r>
                      <a:r>
                        <a:rPr lang="en-IN" dirty="0">
                          <a:effectLst/>
                        </a:rPr>
                        <a:t> nodes, tool definitions, and system prompts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83068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ADCBE36-E962-461F-05EF-80184C570A04}"/>
              </a:ext>
            </a:extLst>
          </p:cNvPr>
          <p:cNvSpPr txBox="1"/>
          <p:nvPr/>
        </p:nvSpPr>
        <p:spPr>
          <a:xfrm>
            <a:off x="614813" y="256334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Summary of Roles &amp; Copilot Tasks</a:t>
            </a:r>
          </a:p>
        </p:txBody>
      </p:sp>
    </p:spTree>
    <p:extLst>
      <p:ext uri="{BB962C8B-B14F-4D97-AF65-F5344CB8AC3E}">
        <p14:creationId xmlns:p14="http://schemas.microsoft.com/office/powerpoint/2010/main" val="323548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Capstone Project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87D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Solution · 4 Specialized Roles · Full Decision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E3BD5F-7AA4-CF4B-46E6-17F05012FBD2}"/>
              </a:ext>
            </a:extLst>
          </p:cNvPr>
          <p:cNvSpPr txBox="1"/>
          <p:nvPr/>
        </p:nvSpPr>
        <p:spPr>
          <a:xfrm>
            <a:off x="109268" y="357999"/>
            <a:ext cx="1197346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Why a Solo Developer + Copilot Works Here</a:t>
            </a:r>
          </a:p>
          <a:p>
            <a:pPr>
              <a:buNone/>
            </a:pPr>
            <a:r>
              <a:rPr lang="en-IN" sz="1400" b="1" dirty="0"/>
              <a:t>Solo Sprint Roadmap (5-Day Plan with Copilot)</a:t>
            </a:r>
          </a:p>
          <a:p>
            <a:pPr>
              <a:buNone/>
            </a:pPr>
            <a:r>
              <a:rPr lang="en-IN" sz="1400" b="1" dirty="0"/>
              <a:t>Day 1: Data Engine &amp; SQLite (</a:t>
            </a:r>
            <a:r>
              <a:rPr lang="en-IN" sz="1400" b="1" dirty="0">
                <a:latin typeface="+mn-lt"/>
              </a:rPr>
              <a:t>data_pipeline.py</a:t>
            </a:r>
            <a:r>
              <a:rPr lang="en-IN" sz="14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Copilot Prompt Strategy: Ask Copilot to write a script that loads </a:t>
            </a:r>
            <a:r>
              <a:rPr lang="en-IN" sz="1400" dirty="0">
                <a:latin typeface="+mn-lt"/>
              </a:rPr>
              <a:t>train.csv</a:t>
            </a:r>
            <a:r>
              <a:rPr lang="en-IN" sz="1400" dirty="0"/>
              <a:t> and </a:t>
            </a:r>
            <a:r>
              <a:rPr lang="en-IN" sz="1400" dirty="0">
                <a:latin typeface="+mn-lt"/>
              </a:rPr>
              <a:t>store.csv</a:t>
            </a:r>
            <a:r>
              <a:rPr lang="en-IN" sz="1400" dirty="0"/>
              <a:t>, handles missing competition values, creates 7-day/14-day lag features, and saves the cleaned dataset into SQLite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Key Milestone: A functional </a:t>
            </a:r>
            <a:r>
              <a:rPr lang="en-IN" sz="1400" dirty="0" err="1">
                <a:latin typeface="+mn-lt"/>
              </a:rPr>
              <a:t>retail.db</a:t>
            </a:r>
            <a:r>
              <a:rPr lang="en-IN" sz="1400" dirty="0"/>
              <a:t> file with fast query indexes.</a:t>
            </a:r>
          </a:p>
          <a:p>
            <a:pPr>
              <a:buNone/>
            </a:pPr>
            <a:r>
              <a:rPr lang="en-IN" sz="1400" b="1" dirty="0"/>
              <a:t>Day 2: Forecasting Model &amp; SHAP (</a:t>
            </a:r>
            <a:r>
              <a:rPr lang="en-IN" sz="1400" b="1" dirty="0">
                <a:latin typeface="+mn-lt"/>
              </a:rPr>
              <a:t>model_engine.py</a:t>
            </a:r>
            <a:r>
              <a:rPr lang="en-IN" sz="14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Copilot Prompt Strategy: Prompt Copilot to build a 7-day time-series validation pipeline comparing a 7-day Moving Average baseline against an </a:t>
            </a:r>
            <a:r>
              <a:rPr lang="en-IN" sz="1400" dirty="0" err="1"/>
              <a:t>XGBoost</a:t>
            </a:r>
            <a:r>
              <a:rPr lang="en-IN" sz="1400" dirty="0"/>
              <a:t> Regressor. Have it calculate RMSPE and save SHAP values to JSON/SQLite for explanation lookups.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Key Milestone: Trained model generating predictions + feature importance per store.</a:t>
            </a:r>
          </a:p>
          <a:p>
            <a:pPr>
              <a:buNone/>
            </a:pPr>
            <a:r>
              <a:rPr lang="en-IN" sz="1400" b="1" dirty="0"/>
              <a:t>Day 3: </a:t>
            </a:r>
            <a:r>
              <a:rPr lang="en-IN" sz="1400" b="1" dirty="0" err="1"/>
              <a:t>LangGraph</a:t>
            </a:r>
            <a:r>
              <a:rPr lang="en-IN" sz="1400" b="1" dirty="0"/>
              <a:t> Agent &amp; Local LLM (</a:t>
            </a:r>
            <a:r>
              <a:rPr lang="en-IN" sz="1400" b="1" dirty="0">
                <a:latin typeface="+mn-lt"/>
              </a:rPr>
              <a:t>agent_engine.py</a:t>
            </a:r>
            <a:r>
              <a:rPr lang="en-IN" sz="14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Copilot Prompt Strategy: Ask Copilot to construct a </a:t>
            </a:r>
            <a:r>
              <a:rPr lang="en-IN" sz="1400" dirty="0" err="1"/>
              <a:t>LangGraph</a:t>
            </a:r>
            <a:r>
              <a:rPr lang="en-IN" sz="1400" dirty="0"/>
              <a:t> state graph with custom tools: </a:t>
            </a:r>
            <a:r>
              <a:rPr lang="en-IN" sz="1400" dirty="0" err="1">
                <a:latin typeface="+mn-lt"/>
              </a:rPr>
              <a:t>query_sql</a:t>
            </a:r>
            <a:r>
              <a:rPr lang="en-IN" sz="1400" dirty="0">
                <a:latin typeface="+mn-lt"/>
              </a:rPr>
              <a:t>(query)</a:t>
            </a:r>
            <a:r>
              <a:rPr lang="en-IN" sz="1400" dirty="0"/>
              <a:t>, </a:t>
            </a:r>
            <a:r>
              <a:rPr lang="en-IN" sz="1400" dirty="0" err="1">
                <a:latin typeface="+mn-lt"/>
              </a:rPr>
              <a:t>get_forecast</a:t>
            </a:r>
            <a:r>
              <a:rPr lang="en-IN" sz="1400" dirty="0">
                <a:latin typeface="+mn-lt"/>
              </a:rPr>
              <a:t>(</a:t>
            </a:r>
            <a:r>
              <a:rPr lang="en-IN" sz="1400" dirty="0" err="1">
                <a:latin typeface="+mn-lt"/>
              </a:rPr>
              <a:t>store_id</a:t>
            </a:r>
            <a:r>
              <a:rPr lang="en-IN" sz="1400" dirty="0">
                <a:latin typeface="+mn-lt"/>
              </a:rPr>
              <a:t>)</a:t>
            </a:r>
            <a:r>
              <a:rPr lang="en-IN" sz="1400" dirty="0"/>
              <a:t>, and </a:t>
            </a:r>
            <a:r>
              <a:rPr lang="en-IN" sz="1400" dirty="0" err="1">
                <a:latin typeface="+mn-lt"/>
              </a:rPr>
              <a:t>get_shap_explanation</a:t>
            </a:r>
            <a:r>
              <a:rPr lang="en-IN" sz="1400" dirty="0">
                <a:latin typeface="+mn-lt"/>
              </a:rPr>
              <a:t>(</a:t>
            </a:r>
            <a:r>
              <a:rPr lang="en-IN" sz="1400" dirty="0" err="1">
                <a:latin typeface="+mn-lt"/>
              </a:rPr>
              <a:t>store_id</a:t>
            </a:r>
            <a:r>
              <a:rPr lang="en-IN" sz="1400" dirty="0">
                <a:latin typeface="+mn-lt"/>
              </a:rPr>
              <a:t>)</a:t>
            </a:r>
            <a:r>
              <a:rPr lang="en-IN" sz="1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Key Milestone: Local agent taking natural language queries and returning structured Observation $\</a:t>
            </a:r>
            <a:r>
              <a:rPr lang="en-IN" sz="1400" dirty="0" err="1"/>
              <a:t>rightarrow</a:t>
            </a:r>
            <a:r>
              <a:rPr lang="en-IN" sz="1400" dirty="0"/>
              <a:t>$ Prediction $\</a:t>
            </a:r>
            <a:r>
              <a:rPr lang="en-IN" sz="1400" dirty="0" err="1"/>
              <a:t>rightarrow</a:t>
            </a:r>
            <a:r>
              <a:rPr lang="en-IN" sz="1400" dirty="0"/>
              <a:t>$ Evidence $\</a:t>
            </a:r>
            <a:r>
              <a:rPr lang="en-IN" sz="1400" dirty="0" err="1"/>
              <a:t>rightarrow</a:t>
            </a:r>
            <a:r>
              <a:rPr lang="en-IN" sz="1400" dirty="0"/>
              <a:t>$ Recommendation answers.</a:t>
            </a:r>
          </a:p>
          <a:p>
            <a:pPr>
              <a:buNone/>
            </a:pPr>
            <a:r>
              <a:rPr lang="en-IN" sz="1400" b="1" dirty="0"/>
              <a:t>Day 4: </a:t>
            </a:r>
            <a:r>
              <a:rPr lang="en-IN" sz="1400" b="1" dirty="0" err="1"/>
              <a:t>Streamlit</a:t>
            </a:r>
            <a:r>
              <a:rPr lang="en-IN" sz="1400" b="1" dirty="0"/>
              <a:t> Frontend (</a:t>
            </a:r>
            <a:r>
              <a:rPr lang="en-IN" sz="1400" b="1" dirty="0">
                <a:latin typeface="+mn-lt"/>
              </a:rPr>
              <a:t>app.py</a:t>
            </a:r>
            <a:r>
              <a:rPr lang="en-IN" sz="14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Copilot Prompt Strategy: Prompt Copilot to generate a 3-page </a:t>
            </a:r>
            <a:r>
              <a:rPr lang="en-IN" sz="1400" dirty="0" err="1"/>
              <a:t>Streamlit</a:t>
            </a:r>
            <a:r>
              <a:rPr lang="en-IN" sz="1400" dirty="0"/>
              <a:t> application connecting the SQLite database (Tab 1: EDA), model predictions (Tab 2: Forecasts &amp; SHAP), and the </a:t>
            </a:r>
            <a:r>
              <a:rPr lang="en-IN" sz="1400" dirty="0" err="1"/>
              <a:t>LangGraph</a:t>
            </a:r>
            <a:r>
              <a:rPr lang="en-IN" sz="1400" dirty="0"/>
              <a:t> agent (Tab 3: AI Assistant Chat).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Key Milestone: Full end-to-end working application running on </a:t>
            </a:r>
            <a:r>
              <a:rPr lang="en-IN" sz="1400" dirty="0">
                <a:latin typeface="+mn-lt"/>
              </a:rPr>
              <a:t>localhost:8501</a:t>
            </a:r>
            <a:r>
              <a:rPr lang="en-IN" sz="1400" dirty="0"/>
              <a:t>.</a:t>
            </a:r>
          </a:p>
          <a:p>
            <a:pPr>
              <a:buNone/>
            </a:pPr>
            <a:r>
              <a:rPr lang="en-IN" sz="1400" b="1" dirty="0"/>
              <a:t>Day 5: "Curveball" Preparation &amp; Presentation Polish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Copilot Prompt Strategy: Use Copilot Chat to generate edge-case queries (e.g., </a:t>
            </a:r>
            <a:r>
              <a:rPr lang="en-IN" sz="1400" i="1" dirty="0"/>
              <a:t>"Compare Stores 100, 200, 300, 400, 500"</a:t>
            </a:r>
            <a:r>
              <a:rPr lang="en-IN" sz="1400" dirty="0"/>
              <a:t>), test tool execution speed, and generate test assertions to ensure zero crashes during the live presentation.</a:t>
            </a:r>
          </a:p>
          <a:p>
            <a:pPr>
              <a:buNone/>
            </a:pPr>
            <a:r>
              <a:rPr lang="en-IN" sz="1400" b="1" dirty="0"/>
              <a:t>3 Essential Copilot Tips for a Solo Build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Leverage </a:t>
            </a:r>
            <a:r>
              <a:rPr lang="en-IN" sz="1400" dirty="0">
                <a:latin typeface="+mn-lt"/>
              </a:rPr>
              <a:t>@workspace</a:t>
            </a:r>
            <a:r>
              <a:rPr lang="en-IN" sz="1400" dirty="0"/>
              <a:t> in VS Code Chat: Use </a:t>
            </a:r>
            <a:r>
              <a:rPr lang="en-IN" sz="1400" dirty="0">
                <a:latin typeface="+mn-lt"/>
              </a:rPr>
              <a:t>@workspace</a:t>
            </a:r>
            <a:r>
              <a:rPr lang="en-IN" sz="1400" dirty="0"/>
              <a:t> when building the </a:t>
            </a:r>
            <a:r>
              <a:rPr lang="en-IN" sz="1400" dirty="0" err="1"/>
              <a:t>Streamlit</a:t>
            </a:r>
            <a:r>
              <a:rPr lang="en-IN" sz="1400" dirty="0"/>
              <a:t> UI or </a:t>
            </a:r>
            <a:r>
              <a:rPr lang="en-IN" sz="1400" dirty="0" err="1"/>
              <a:t>LangGraph</a:t>
            </a:r>
            <a:r>
              <a:rPr lang="en-IN" sz="1400" dirty="0"/>
              <a:t> agents so Copilot reads your existing database schemas (</a:t>
            </a:r>
            <a:r>
              <a:rPr lang="en-IN" sz="1400" dirty="0">
                <a:latin typeface="+mn-lt"/>
              </a:rPr>
              <a:t>data_pipeline.py</a:t>
            </a:r>
            <a:r>
              <a:rPr lang="en-IN" sz="1400" dirty="0"/>
              <a:t>) and model functions (</a:t>
            </a:r>
            <a:r>
              <a:rPr lang="en-IN" sz="1400" dirty="0">
                <a:latin typeface="+mn-lt"/>
              </a:rPr>
              <a:t>model_engine.py</a:t>
            </a:r>
            <a:r>
              <a:rPr lang="en-IN" sz="1400" dirty="0"/>
              <a:t>) without you copying and pasting code snippets into chat.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Keep the Stack Modular: Keep the files strictly separate (</a:t>
            </a:r>
            <a:r>
              <a:rPr lang="en-IN" sz="1400" dirty="0">
                <a:latin typeface="+mn-lt"/>
              </a:rPr>
              <a:t>data_prep.py</a:t>
            </a:r>
            <a:r>
              <a:rPr lang="en-IN" sz="1400" dirty="0"/>
              <a:t>, </a:t>
            </a:r>
            <a:r>
              <a:rPr lang="en-IN" sz="1400" dirty="0">
                <a:latin typeface="+mn-lt"/>
              </a:rPr>
              <a:t>model.py</a:t>
            </a:r>
            <a:r>
              <a:rPr lang="en-IN" sz="1400" dirty="0"/>
              <a:t>, </a:t>
            </a:r>
            <a:r>
              <a:rPr lang="en-IN" sz="1400" dirty="0">
                <a:latin typeface="+mn-lt"/>
              </a:rPr>
              <a:t>agents.py</a:t>
            </a:r>
            <a:r>
              <a:rPr lang="en-IN" sz="1400" dirty="0"/>
              <a:t>, </a:t>
            </a:r>
            <a:r>
              <a:rPr lang="en-IN" sz="1400" dirty="0">
                <a:latin typeface="+mn-lt"/>
              </a:rPr>
              <a:t>app.py</a:t>
            </a:r>
            <a:r>
              <a:rPr lang="en-IN" sz="1400" dirty="0"/>
              <a:t>). Copilot writes far cleaner code when generating isolated python modules than when trying to edit an 800-line monolithic script.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Use Copilot for Synthetic Test Queries: Have Copilot generate a test script (</a:t>
            </a:r>
            <a:r>
              <a:rPr lang="en-IN" sz="1400" dirty="0">
                <a:latin typeface="+mn-lt"/>
              </a:rPr>
              <a:t>test_curveball.py</a:t>
            </a:r>
            <a:r>
              <a:rPr lang="en-IN" sz="1400" dirty="0"/>
              <a:t>) that runs the exact presentation question (</a:t>
            </a:r>
            <a:r>
              <a:rPr lang="en-IN" sz="1400" i="1" dirty="0"/>
              <a:t>"Which of stores 100-500 should I focus on next week?"</a:t>
            </a:r>
            <a:r>
              <a:rPr lang="en-IN" sz="1400" dirty="0"/>
              <a:t>) through your </a:t>
            </a:r>
            <a:r>
              <a:rPr lang="en-IN" sz="1400" dirty="0" err="1"/>
              <a:t>LangGraph</a:t>
            </a:r>
            <a:r>
              <a:rPr lang="en-IN" sz="1400" dirty="0"/>
              <a:t> agent 20 times to verify response consistency before you present.</a:t>
            </a:r>
          </a:p>
        </p:txBody>
      </p:sp>
    </p:spTree>
    <p:extLst>
      <p:ext uri="{BB962C8B-B14F-4D97-AF65-F5344CB8AC3E}">
        <p14:creationId xmlns:p14="http://schemas.microsoft.com/office/powerpoint/2010/main" val="543394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594EE3-DEC7-4606-F2B2-38E3B725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D41C7C-5E0B-F4CA-34C3-88E05C69E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32579"/>
              </p:ext>
            </p:extLst>
          </p:nvPr>
        </p:nvGraphicFramePr>
        <p:xfrm>
          <a:off x="665057" y="1445236"/>
          <a:ext cx="10861885" cy="43513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9536">
                  <a:extLst>
                    <a:ext uri="{9D8B030D-6E8A-4147-A177-3AD203B41FA5}">
                      <a16:colId xmlns:a16="http://schemas.microsoft.com/office/drawing/2014/main" val="2274861462"/>
                    </a:ext>
                  </a:extLst>
                </a:gridCol>
                <a:gridCol w="4427996">
                  <a:extLst>
                    <a:ext uri="{9D8B030D-6E8A-4147-A177-3AD203B41FA5}">
                      <a16:colId xmlns:a16="http://schemas.microsoft.com/office/drawing/2014/main" val="2006677064"/>
                    </a:ext>
                  </a:extLst>
                </a:gridCol>
                <a:gridCol w="4294353">
                  <a:extLst>
                    <a:ext uri="{9D8B030D-6E8A-4147-A177-3AD203B41FA5}">
                      <a16:colId xmlns:a16="http://schemas.microsoft.com/office/drawing/2014/main" val="1570223474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Task Area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What Copilot Handles (80% of the effort)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What You Must Oversee (20% critical thinking)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187867086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Data &amp; SQLite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Generates Pandas merging code, feature engineering loops (lags, rolling averages), and SQLite database schemas.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Verifying data cleaning logic and ensuring no time-series data leakage into future features.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13857895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ML &amp; SHAP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Writes XGBoost model code, hyperparameter templates, evaluation metrics (RMSPE/MAE), and SHAP value extractors.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Validating model accuracy across store types and checking that baseline models aren't outperforming XGBoost.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032243429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Agentic AI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Generates LangGraph state nodes, tool schemas, and prompt templates for Observation $\rightarrow$ Recommendation logic.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Testing agent tool-calling reliability so local LLMs don't hallucinate non-existent SQL columns.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804718133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Streamlit UI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Builds multi-tab layouts, interactive Plotly charts, sidebar filters, and chat UI components in minutes.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Ensuring seamless state management across tabs and polishing UX for the live demonstration.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01172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26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2193</Words>
  <Application>Microsoft Office PowerPoint</Application>
  <PresentationFormat>Widescreen</PresentationFormat>
  <Paragraphs>186</Paragraphs>
  <Slides>15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Prerana Pallavi</cp:lastModifiedBy>
  <cp:revision>15</cp:revision>
  <dcterms:created xsi:type="dcterms:W3CDTF">2026-09-03T15:54:45Z</dcterms:created>
  <dcterms:modified xsi:type="dcterms:W3CDTF">2026-09-04T07:13:40Z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083ca2a-fa5f-423f-8f80-7e27cbcfb750_Enabled">
    <vt:lpwstr>true</vt:lpwstr>
  </property>
  <property fmtid="{D5CDD505-2E9C-101B-9397-08002B2CF9AE}" pid="3" name="MSIP_Label_8083ca2a-fa5f-423f-8f80-7e27cbcfb750_SetDate">
    <vt:lpwstr>2026-09-03T16:03:33Z</vt:lpwstr>
  </property>
  <property fmtid="{D5CDD505-2E9C-101B-9397-08002B2CF9AE}" pid="4" name="MSIP_Label_8083ca2a-fa5f-423f-8f80-7e27cbcfb750_Method">
    <vt:lpwstr>Standard</vt:lpwstr>
  </property>
  <property fmtid="{D5CDD505-2E9C-101B-9397-08002B2CF9AE}" pid="5" name="MSIP_Label_8083ca2a-fa5f-423f-8f80-7e27cbcfb750_Name">
    <vt:lpwstr>Internal</vt:lpwstr>
  </property>
  <property fmtid="{D5CDD505-2E9C-101B-9397-08002B2CF9AE}" pid="6" name="MSIP_Label_8083ca2a-fa5f-423f-8f80-7e27cbcfb750_SiteId">
    <vt:lpwstr>927e65b8-7ad7-48db-a3c6-c42a67c100d6</vt:lpwstr>
  </property>
  <property fmtid="{D5CDD505-2E9C-101B-9397-08002B2CF9AE}" pid="7" name="MSIP_Label_8083ca2a-fa5f-423f-8f80-7e27cbcfb750_ActionId">
    <vt:lpwstr>b643acf0-ebcb-440b-be1e-409550e57a2f</vt:lpwstr>
  </property>
  <property fmtid="{D5CDD505-2E9C-101B-9397-08002B2CF9AE}" pid="8" name="MSIP_Label_8083ca2a-fa5f-423f-8f80-7e27cbcfb750_ContentBits">
    <vt:lpwstr>0</vt:lpwstr>
  </property>
  <property fmtid="{D5CDD505-2E9C-101B-9397-08002B2CF9AE}" pid="9" name="MSIP_Label_8083ca2a-fa5f-423f-8f80-7e27cbcfb750_Tag">
    <vt:lpwstr>10, 3, 0, 1</vt:lpwstr>
  </property>
</Properties>
</file>